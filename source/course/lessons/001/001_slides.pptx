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7"/>
    <p:sldId id="257" r:id="rId8"/>
    <p:sldId id="258" r:id="rId9"/>
    <p:sldId id="259" r:id="rId10"/>
    <p:sldId id="260" r:id="rId6"/>
    <p:sldId id="261" r:id="rId5"/>
    <p:sldId id="262" r:id="rId4"/>
    <p:sldId id="263" r:id="rId3"/>
    <p:sldId id="264" r:id="rId2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i="1" kern="1200">
        <a:solidFill>
          <a:schemeClr val="hlink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i="1" kern="1200">
        <a:solidFill>
          <a:schemeClr val="hlink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i="1" kern="1200">
        <a:solidFill>
          <a:schemeClr val="hlink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i="1" kern="1200">
        <a:solidFill>
          <a:schemeClr val="hlink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i="1" kern="1200">
        <a:solidFill>
          <a:schemeClr val="hlink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400" i="1" kern="1200">
        <a:solidFill>
          <a:schemeClr val="hlink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1400" i="1" kern="1200">
        <a:solidFill>
          <a:schemeClr val="hlink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1400" i="1" kern="1200">
        <a:solidFill>
          <a:schemeClr val="hlink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1400" i="1" kern="1200">
        <a:solidFill>
          <a:schemeClr val="hlink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1" autoAdjust="0"/>
    <p:restoredTop sz="94660"/>
  </p:normalViewPr>
  <p:slideViewPr>
    <p:cSldViewPr showGuides="1">
      <p:cViewPr varScale="1">
        <p:scale>
          <a:sx n="81" d="100"/>
          <a:sy n="81" d="100"/>
        </p:scale>
        <p:origin x="438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94C9F-B060-47A7-9E71-1A6DB2E80AAA}" type="datetimeFigureOut">
              <a:rPr lang="en-US" smtClean="0"/>
              <a:t>7/16/2024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546F9-BB22-4346-A4C7-2D12BAD1C6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651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76200"/>
            <a:ext cx="10972800" cy="9144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3000"/>
            <a:ext cx="10972800" cy="5143500"/>
          </a:xfrm>
        </p:spPr>
        <p:txBody>
          <a:bodyPr>
            <a:normAutofit/>
          </a:bodyPr>
          <a:lstStyle>
            <a:lvl1pPr marL="225425" indent="-225425"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FF8B25F0-45B0-001E-9BA9-E97BF70A11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16592" y="6511262"/>
            <a:ext cx="2498608" cy="2286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ctr">
              <a:defRPr sz="11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of the Module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CA295905-77EE-0148-C3EB-D77C0BA49E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165525" y="6478874"/>
            <a:ext cx="812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kumimoji="1" sz="1100" b="0" i="0">
                <a:solidFill>
                  <a:schemeClr val="tx1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defRPr>
            </a:lvl1pPr>
          </a:lstStyle>
          <a:p>
            <a:fld id="{30E60C2F-280D-4FA5-9649-2C166AC4D9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815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ngle Content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76200"/>
            <a:ext cx="10972800" cy="9144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59331"/>
            <a:ext cx="10972800" cy="5127171"/>
          </a:xfrm>
        </p:spPr>
        <p:txBody>
          <a:bodyPr>
            <a:normAutofit/>
          </a:bodyPr>
          <a:lstStyle>
            <a:lvl1pPr marL="0" indent="0">
              <a:spcBef>
                <a:spcPts val="2400"/>
              </a:spcBef>
              <a:buNone/>
              <a:defRPr b="0">
                <a:latin typeface="Calibri" pitchFamily="34" charset="0"/>
              </a:defRPr>
            </a:lvl1pPr>
            <a:lvl2pPr marL="231775" indent="-231775">
              <a:spcBef>
                <a:spcPts val="600"/>
              </a:spcBef>
              <a:buFont typeface="Wingdings" panose="05000000000000000000" pitchFamily="2" charset="2"/>
              <a:buChar char="§"/>
              <a:defRPr sz="2400">
                <a:latin typeface="Calibri" pitchFamily="34" charset="0"/>
              </a:defRPr>
            </a:lvl2pPr>
            <a:lvl3pPr marL="576263" indent="-22860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latin typeface="Calibri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3349259B-BB2D-EB5A-FF21-182EB504278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01400" y="6511262"/>
            <a:ext cx="812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kumimoji="1" sz="1100" b="0" i="0">
                <a:solidFill>
                  <a:schemeClr val="tx1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defRPr>
            </a:lvl1pPr>
          </a:lstStyle>
          <a:p>
            <a:fld id="{30E60C2F-280D-4FA5-9649-2C166AC4D9F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F0566CD9-4372-DE05-5230-A6C3E702C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16592" y="6511262"/>
            <a:ext cx="2498608" cy="2286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ctr">
              <a:defRPr sz="11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of the Module</a:t>
            </a:r>
          </a:p>
        </p:txBody>
      </p:sp>
    </p:spTree>
    <p:extLst>
      <p:ext uri="{BB962C8B-B14F-4D97-AF65-F5344CB8AC3E}">
        <p14:creationId xmlns:p14="http://schemas.microsoft.com/office/powerpoint/2010/main" val="1046555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9144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43000"/>
            <a:ext cx="5364480" cy="5143500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143000"/>
            <a:ext cx="5364480" cy="5143500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557F6CCC-DA84-A44E-B2BD-720ACAD6F07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01400" y="6511262"/>
            <a:ext cx="812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kumimoji="1" sz="1100" b="0" i="0">
                <a:solidFill>
                  <a:schemeClr val="tx1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defRPr>
            </a:lvl1pPr>
          </a:lstStyle>
          <a:p>
            <a:fld id="{30E60C2F-280D-4FA5-9649-2C166AC4D9F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F4E13E81-0B00-EB6B-88C2-F57B0957C8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16592" y="6511262"/>
            <a:ext cx="2498608" cy="2286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ctr">
              <a:defRPr sz="11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of the Module</a:t>
            </a:r>
          </a:p>
        </p:txBody>
      </p:sp>
    </p:spTree>
    <p:extLst>
      <p:ext uri="{BB962C8B-B14F-4D97-AF65-F5344CB8AC3E}">
        <p14:creationId xmlns:p14="http://schemas.microsoft.com/office/powerpoint/2010/main" val="483965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eaders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9144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43000"/>
            <a:ext cx="5364480" cy="5091114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400" b="0" i="0">
                <a:solidFill>
                  <a:schemeClr val="tx2"/>
                </a:solidFill>
                <a:latin typeface="Calibri" pitchFamily="34" charset="0"/>
              </a:defRPr>
            </a:lvl1pPr>
            <a:lvl2pPr marL="231775" indent="-231775"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2"/>
                </a:solidFill>
                <a:latin typeface="Calibri" pitchFamily="34" charset="0"/>
              </a:defRPr>
            </a:lvl2pPr>
            <a:lvl3pPr marL="576263" indent="-228600"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Calibri" pitchFamily="34" charset="0"/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143000"/>
            <a:ext cx="5364480" cy="5091114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400" b="0" i="0">
                <a:solidFill>
                  <a:schemeClr val="tx2"/>
                </a:solidFill>
                <a:latin typeface="Calibri" pitchFamily="34" charset="0"/>
              </a:defRPr>
            </a:lvl1pPr>
            <a:lvl2pPr marL="225425" indent="-225425"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2"/>
                </a:solidFill>
                <a:latin typeface="Calibri" pitchFamily="34" charset="0"/>
              </a:defRPr>
            </a:lvl2pPr>
            <a:lvl3pPr marL="576263" indent="-228600"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Calibri" pitchFamily="34" charset="0"/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3C80CCE9-F918-1706-E2E2-C350527EA8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16592" y="6511262"/>
            <a:ext cx="2498608" cy="2286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ctr">
              <a:defRPr sz="11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of the Module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E60F1E2D-36A8-DDF8-B9AB-D9678C4DD95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165525" y="6478874"/>
            <a:ext cx="812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kumimoji="1" sz="1100" b="0" i="0">
                <a:solidFill>
                  <a:schemeClr val="tx1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defRPr>
            </a:lvl1pPr>
          </a:lstStyle>
          <a:p>
            <a:fld id="{30E60C2F-280D-4FA5-9649-2C166AC4D9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03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676400"/>
            <a:ext cx="10972800" cy="1752600"/>
          </a:xfrm>
        </p:spPr>
        <p:txBody>
          <a:bodyPr anchor="b" anchorCtr="0"/>
          <a:lstStyle>
            <a:lvl1pPr algn="ctr">
              <a:lnSpc>
                <a:spcPct val="90000"/>
              </a:lnSpc>
              <a:defRPr sz="40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679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3810002"/>
            <a:ext cx="10972800" cy="2492829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1000"/>
              </a:spcBef>
              <a:buFont typeface="Wingdings" pitchFamily="2" charset="2"/>
              <a:buNone/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4C329700-76FF-1D0B-3FC0-AC2550FACFB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01400" y="6511262"/>
            <a:ext cx="812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kumimoji="1" sz="1100" b="0" i="0">
                <a:solidFill>
                  <a:schemeClr val="tx1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defRPr>
            </a:lvl1pPr>
          </a:lstStyle>
          <a:p>
            <a:fld id="{30E60C2F-280D-4FA5-9649-2C166AC4D9F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C0C7FE86-F0EA-8305-E024-3A09A4133B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16592" y="6511262"/>
            <a:ext cx="2498608" cy="2286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ctr">
              <a:defRPr sz="11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of the Module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B4D917-E5DC-2572-C2A7-6052AC3475AF}"/>
              </a:ext>
            </a:extLst>
          </p:cNvPr>
          <p:cNvSpPr/>
          <p:nvPr/>
        </p:nvSpPr>
        <p:spPr bwMode="auto">
          <a:xfrm>
            <a:off x="2" y="0"/>
            <a:ext cx="12191998" cy="990600"/>
          </a:xfrm>
          <a:prstGeom prst="rect">
            <a:avLst/>
          </a:prstGeom>
          <a:solidFill>
            <a:srgbClr val="003B4C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069452-672F-9B6C-3DC8-801A78E824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40343"/>
            <a:ext cx="5013781" cy="50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051337"/>
      </p:ext>
    </p:extLst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676400"/>
            <a:ext cx="10972800" cy="1752600"/>
          </a:xfrm>
        </p:spPr>
        <p:txBody>
          <a:bodyPr anchor="b" anchorCtr="0"/>
          <a:lstStyle>
            <a:lvl1pPr algn="ctr">
              <a:lnSpc>
                <a:spcPct val="9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679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3810000"/>
            <a:ext cx="10972800" cy="2476500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1000"/>
              </a:spcBef>
              <a:buFont typeface="Wingdings" pitchFamily="2" charset="2"/>
              <a:buNone/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CA3CA3A3-8541-A7C4-EA47-1F74A4B2FDD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01400" y="6511262"/>
            <a:ext cx="812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kumimoji="1" sz="1100" b="0" i="0">
                <a:solidFill>
                  <a:schemeClr val="tx1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defRPr>
            </a:lvl1pPr>
          </a:lstStyle>
          <a:p>
            <a:fld id="{30E60C2F-280D-4FA5-9649-2C166AC4D9F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78285C2B-FBD5-F971-5DD9-6A0B890385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16592" y="6511262"/>
            <a:ext cx="2498608" cy="2286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ctr">
              <a:defRPr sz="11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of the Module</a:t>
            </a:r>
          </a:p>
        </p:txBody>
      </p:sp>
    </p:spTree>
    <p:extLst>
      <p:ext uri="{BB962C8B-B14F-4D97-AF65-F5344CB8AC3E}">
        <p14:creationId xmlns:p14="http://schemas.microsoft.com/office/powerpoint/2010/main" val="3781538854"/>
      </p:ext>
    </p:extLst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904AD100-CEBA-ECA6-0B6D-810214C0F74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01400" y="6511262"/>
            <a:ext cx="812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kumimoji="1" sz="1100" b="0" i="0">
                <a:solidFill>
                  <a:schemeClr val="tx1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defRPr>
            </a:lvl1pPr>
          </a:lstStyle>
          <a:p>
            <a:fld id="{30E60C2F-280D-4FA5-9649-2C166AC4D9F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2181F406-7FFD-C0AE-DFEC-369DF231D2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16592" y="6511262"/>
            <a:ext cx="2498608" cy="2286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ctr">
              <a:defRPr sz="11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of the Module</a:t>
            </a:r>
          </a:p>
        </p:txBody>
      </p:sp>
    </p:spTree>
    <p:extLst>
      <p:ext uri="{BB962C8B-B14F-4D97-AF65-F5344CB8AC3E}">
        <p14:creationId xmlns:p14="http://schemas.microsoft.com/office/powerpoint/2010/main" val="1883886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99125" y="514350"/>
            <a:ext cx="10972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99125" y="1143000"/>
            <a:ext cx="109832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165525" y="6478874"/>
            <a:ext cx="812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kumimoji="1" sz="1100" b="0" i="0">
                <a:solidFill>
                  <a:schemeClr val="tx1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defRPr>
            </a:lvl1pPr>
          </a:lstStyle>
          <a:p>
            <a:fld id="{30E60C2F-280D-4FA5-9649-2C166AC4D9F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4816592" y="6511262"/>
            <a:ext cx="2498608" cy="2286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ctr">
              <a:defRPr sz="11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of the Module</a:t>
            </a: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1828800" y="6511262"/>
            <a:ext cx="298779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 anchorCtr="0"/>
          <a:lstStyle/>
          <a:p>
            <a:pPr algn="ctr" eaLnBrk="0" hangingPunct="0">
              <a:defRPr/>
            </a:pPr>
            <a:r>
              <a:rPr kumimoji="1" lang="en-US" sz="1100" i="0" dirty="0">
                <a:solidFill>
                  <a:schemeClr val="tx1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©Caltech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6478252"/>
            <a:ext cx="3987800" cy="261610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algn="ctr"/>
            <a:r>
              <a:rPr lang="en-US" sz="11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https://ctme.caltech.edu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04680C-C90E-B899-A769-AEE38B2A84E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66" y="6446487"/>
            <a:ext cx="1214434" cy="29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29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0">
          <a:solidFill>
            <a:schemeClr val="accent3"/>
          </a:solidFill>
          <a:latin typeface="Calibri" pitchFamily="34" charset="0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Comic Sans MS" pitchFamily="66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Comic Sans MS" pitchFamily="66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Comic Sans MS" pitchFamily="66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Comic Sans MS" pitchFamily="66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Comic Sans MS" pitchFamily="66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Comic Sans MS" pitchFamily="66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Comic Sans MS" pitchFamily="66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Comic Sans MS" pitchFamily="66" charset="0"/>
        </a:defRPr>
      </a:lvl9pPr>
    </p:titleStyle>
    <p:bodyStyle>
      <a:lvl1pPr marL="225425" indent="-225425" algn="l" rtl="0" eaLnBrk="1" fontAlgn="base" hangingPunct="1">
        <a:lnSpc>
          <a:spcPct val="90000"/>
        </a:lnSpc>
        <a:spcBef>
          <a:spcPts val="1200"/>
        </a:spcBef>
        <a:spcAft>
          <a:spcPts val="0"/>
        </a:spcAft>
        <a:buClr>
          <a:schemeClr val="accent2"/>
        </a:buClr>
        <a:buFont typeface="Wingdings" pitchFamily="2" charset="2"/>
        <a:buChar char="§"/>
        <a:defRPr sz="2400">
          <a:solidFill>
            <a:schemeClr val="tx2"/>
          </a:solidFill>
          <a:latin typeface="Calibri" pitchFamily="34" charset="0"/>
          <a:ea typeface="+mn-ea"/>
          <a:cs typeface="+mn-cs"/>
        </a:defRPr>
      </a:lvl1pPr>
      <a:lvl2pPr marL="576263" indent="-238125" algn="l" rtl="0" eaLnBrk="1" fontAlgn="base" hangingPunct="1">
        <a:lnSpc>
          <a:spcPct val="90000"/>
        </a:lnSpc>
        <a:spcBef>
          <a:spcPts val="600"/>
        </a:spcBef>
        <a:spcAft>
          <a:spcPts val="0"/>
        </a:spcAft>
        <a:buClr>
          <a:schemeClr val="accent2"/>
        </a:buClr>
        <a:buFont typeface="Arial" pitchFamily="34" charset="0"/>
        <a:buChar char="•"/>
        <a:defRPr sz="2000">
          <a:solidFill>
            <a:schemeClr val="tx2"/>
          </a:solidFill>
          <a:latin typeface="Calibri" pitchFamily="34" charset="0"/>
        </a:defRPr>
      </a:lvl2pPr>
      <a:lvl3pPr marL="917575" indent="-228600" algn="l" rtl="0" eaLnBrk="1" fontAlgn="base" hangingPunct="1">
        <a:lnSpc>
          <a:spcPct val="90000"/>
        </a:lnSpc>
        <a:spcBef>
          <a:spcPts val="300"/>
        </a:spcBef>
        <a:spcAft>
          <a:spcPts val="0"/>
        </a:spcAft>
        <a:buClr>
          <a:schemeClr val="accent2"/>
        </a:buClr>
        <a:buFont typeface="Calibri" pitchFamily="34" charset="0"/>
        <a:buChar char="–"/>
        <a:defRPr sz="1800">
          <a:solidFill>
            <a:schemeClr val="tx2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Times New Roman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Times New Roman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2" pos="9728">
          <p15:clr>
            <a:srgbClr val="F26B43"/>
          </p15:clr>
        </p15:guide>
        <p15:guide id="34" orient="horz" pos="2160">
          <p15:clr>
            <a:srgbClr val="F26B43"/>
          </p15:clr>
        </p15:guide>
        <p15:guide id="47" orient="horz" pos="720">
          <p15:clr>
            <a:srgbClr val="F26B43"/>
          </p15:clr>
        </p15:guide>
        <p15:guide id="48" orient="horz" pos="624">
          <p15:clr>
            <a:srgbClr val="F26B43"/>
          </p15:clr>
        </p15:guide>
        <p15:guide id="49" pos="352">
          <p15:clr>
            <a:srgbClr val="F26B43"/>
          </p15:clr>
        </p15:guide>
        <p15:guide id="50" orient="horz" pos="3960">
          <p15:clr>
            <a:srgbClr val="F26B43"/>
          </p15:clr>
        </p15:guide>
        <p15:guide id="51" pos="3840">
          <p15:clr>
            <a:srgbClr val="F26B43"/>
          </p15:clr>
        </p15:guide>
        <p15:guide id="52" pos="729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Vector Spaces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Lesson 1: Foundations of Linear Algebra</a:t>
            </a:r>
          </a:p>
          <a:p>
            <a:r>
              <a:t>Linear Algebra and Estimation Theory</a:t>
            </a:r>
          </a:p>
          <a:p>
            <a:r>
              <a:t>Week 1,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16592" y="6511262"/>
            <a:ext cx="2498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Lesson 1: Foundations of Linear Algebra  Week 1,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0" y="6511262"/>
            <a:ext cx="5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 linear algebra concepts from undergraduate mathematics</a:t>
            </a:r>
          </a:p>
          <a:p>
            <a:r>
              <a:t>Familiarity (or willingness to learn) with Python programming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816592" y="6511262"/>
            <a:ext cx="2498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Lesson 1: Foundations of Linear Algebra  Week 1,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0" y="6511262"/>
            <a:ext cx="5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Part 1: Course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816592" y="6511262"/>
            <a:ext cx="2498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Lesson 1: Foundations of Linear Algebra  Week 1,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0" y="6511262"/>
            <a:ext cx="5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Your Instructor: Joshua Cook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20 years teaching experience (UCLA, CalTech, Crenshaw High School)</a:t>
            </a:r>
          </a:p>
          <a:p>
            <a:r>
              <a:t>CEO of EdTech startup, completing MS in CS (HCI) at Georgia Tech</a:t>
            </a:r>
          </a:p>
          <a:p>
            <a:r>
              <a:t>10 years as ML engineer &amp; Solution Architect at Databricks</a:t>
            </a:r>
          </a:p>
          <a:p>
            <a:r>
              <a:t>BS Applied Mathematics, M.Ed. Mathematics Education</a:t>
            </a:r>
          </a:p>
          <a:p>
            <a:r>
              <a:t>Focus on intuition and learning by doing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816592" y="6511262"/>
            <a:ext cx="2498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Lesson 1: Foundations of Linear Algebra  Week 1,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0" y="6511262"/>
            <a:ext cx="5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 Believe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Linear Algebra is the hardest class I've ever taken. But I've never heard any other math class be spoken about with such reverence. It is a class I truly love and I know a lot of people who feel the same way.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816592" y="6511262"/>
            <a:ext cx="2498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Lesson 1: Foundations of Linear Algebra  Week 1,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0" y="6511262"/>
            <a:ext cx="5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b="1"/>
            </a:pPr>
            <a:r>
              <a:t>Format</a:t>
            </a:r>
          </a:p>
          <a:p/>
          <a:p>
            <a:r>
              <a:t>10-week intensive</a:t>
            </a:r>
            <a:br/>
            <a:r>
              <a:t>Two 90-min lectures/week</a:t>
            </a:r>
            <a:br/>
            <a:r>
              <a:t>Weekly hands-on labs</a:t>
            </a:r>
            <a:br/>
            <a:r>
              <a:t>Two major projects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b="1"/>
            </a:pPr>
            <a:r>
              <a:t>Assessment</a:t>
            </a:r>
          </a:p>
          <a:p/>
          <a:p>
            <a:r>
              <a:t>Quizzes (20%)</a:t>
            </a:r>
            <a:br/>
            <a:r>
              <a:t>Labs (20%)</a:t>
            </a:r>
            <a:br/>
            <a:r>
              <a:t>Projects (60%)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16592" y="6511262"/>
            <a:ext cx="2498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Lesson 1: Foundations of Linear Algebra  Week 1,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0" y="6511262"/>
            <a:ext cx="5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b="1"/>
            </a:pPr>
            <a:r>
              <a:t>Resources</a:t>
            </a:r>
          </a:p>
          <a:p/>
          <a:p>
            <a:r>
              <a:t>Office hours by appointment</a:t>
            </a:r>
            <a:br/>
            <a:r>
              <a:t>Course Slack channel</a:t>
            </a:r>
            <a:br/>
            <a:r>
              <a:t>Online materials</a:t>
            </a:r>
            <a:br/>
            <a:r>
              <a:t>LLM assistance encouraged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b="1"/>
            </a:pPr>
            <a:r>
              <a:t>Expectations</a:t>
            </a:r>
          </a:p>
          <a:p/>
          <a:p>
            <a:r>
              <a:t>Pre-reading completion</a:t>
            </a:r>
            <a:br/>
            <a:r>
              <a:t>Active participation</a:t>
            </a:r>
            <a:br/>
            <a:r>
              <a:t>Team collaboration</a:t>
            </a:r>
            <a:br/>
            <a:r>
              <a:t>Regular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16592" y="6511262"/>
            <a:ext cx="2498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Lesson 1: Foundations of Linear Algebra  Week 1,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0" y="6511262"/>
            <a:ext cx="5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b="1"/>
            </a:pPr>
            <a:r>
              <a:t>Lab 1 Preview</a:t>
            </a:r>
          </a:p>
          <a:p/>
          <a:p>
            <a:r>
              <a:t>Vector operations</a:t>
            </a:r>
            <a:br/>
            <a:r>
              <a:t>Visualization tools</a:t>
            </a:r>
            <a:br/>
            <a:r>
              <a:t>NumPy foundations</a:t>
            </a:r>
            <a:br/>
            <a:r>
              <a:t>Due: January 14, 2025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b="1"/>
            </a:pPr>
            <a:r>
              <a:t>Goals</a:t>
            </a:r>
          </a:p>
          <a:p/>
          <a:p>
            <a:r>
              <a:t>Hands-on practice</a:t>
            </a:r>
            <a:br/>
            <a:r>
              <a:t>Tool familiarity</a:t>
            </a:r>
            <a:br/>
            <a:r>
              <a:t>Applied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16592" y="6511262"/>
            <a:ext cx="2498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Lesson 1: Foundations of Linear Algebra  Week 1,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0" y="6511262"/>
            <a:ext cx="5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Part 2: Vector Space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816592" y="6511262"/>
            <a:ext cx="2498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Lesson 1: Foundations of Linear Algebra  Week 1,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0" y="6511262"/>
            <a:ext cx="5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 `001_math.pdf` for detailed coverage of:</a:t>
            </a:r>
          </a:p>
          <a:p/>
          <a:p>
            <a:r>
              <a:t>Vector space definitions and axioms</a:t>
            </a:r>
          </a:p>
          <a:p>
            <a:r>
              <a:t>Basic vector operations with geometric interpretations</a:t>
            </a:r>
          </a:p>
          <a:p>
            <a:r>
              <a:t>Vector properties and operations</a:t>
            </a:r>
          </a:p>
          <a:p>
            <a:r>
              <a:t>Practice problems with solutions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816592" y="6511262"/>
            <a:ext cx="2498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Lesson 1: Foundations of Linear Algebra  Week 1,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0" y="6511262"/>
            <a:ext cx="5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Part 3: Computational Tools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816592" y="6511262"/>
            <a:ext cx="2498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Lesson 1: Foundations of Linear Algebra  Week 1,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0" y="6511262"/>
            <a:ext cx="5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Google Colab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 `001_colab.pdf` for:</a:t>
            </a:r>
          </a:p>
          <a:p/>
          <a:p>
            <a:r>
              <a:t>Complete Python implementations</a:t>
            </a:r>
          </a:p>
          <a:p>
            <a:r>
              <a:t>Interactive visualization code</a:t>
            </a:r>
          </a:p>
          <a:p>
            <a:r>
              <a:t>Practice exercises with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16592" y="6511262"/>
            <a:ext cx="2498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Lesson 1: Foundations of Linear Algebra  Week 1,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0" y="6511262"/>
            <a:ext cx="5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GC theme 2013-08-22">
  <a:themeElements>
    <a:clrScheme name="Custom 6">
      <a:dk1>
        <a:srgbClr val="000000"/>
      </a:dk1>
      <a:lt1>
        <a:srgbClr val="FFFFFF"/>
      </a:lt1>
      <a:dk2>
        <a:srgbClr val="000000"/>
      </a:dk2>
      <a:lt2>
        <a:srgbClr val="CAC8C8"/>
      </a:lt2>
      <a:accent1>
        <a:srgbClr val="F2D383"/>
      </a:accent1>
      <a:accent2>
        <a:srgbClr val="003B4C"/>
      </a:accent2>
      <a:accent3>
        <a:srgbClr val="003B4C"/>
      </a:accent3>
      <a:accent4>
        <a:srgbClr val="00A1DF"/>
      </a:accent4>
      <a:accent5>
        <a:srgbClr val="FF6C0C"/>
      </a:accent5>
      <a:accent6>
        <a:srgbClr val="F9BE00"/>
      </a:accent6>
      <a:hlink>
        <a:srgbClr val="64645D"/>
      </a:hlink>
      <a:folHlink>
        <a:srgbClr val="64645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>
        <a:spAutoFit/>
      </a:bodyPr>
      <a:lstStyle>
        <a:defPPr algn="r">
          <a:spcBef>
            <a:spcPct val="50000"/>
          </a:spcBef>
          <a:defRPr dirty="0" smtClean="0">
            <a:solidFill>
              <a:schemeClr val="tx1"/>
            </a:solidFill>
            <a:latin typeface="Calibri" pitchFamily="34" charset="0"/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TME PRO 2024-02" id="{50B0460F-6AD2-42B5-9167-D7AF63F38600}" vid="{637BEF4B-6F87-4F6A-955F-8EF8EB4765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2024 CTME wide template</Template>
  <TotalTime>99</TotalTime>
  <Words>312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Comic Sans MS</vt:lpstr>
      <vt:lpstr>Times New Roman</vt:lpstr>
      <vt:lpstr>Wingdings</vt:lpstr>
      <vt:lpstr>NGC theme 2013-08-22</vt:lpstr>
      <vt:lpstr>Standard Bullet Layout</vt:lpstr>
      <vt:lpstr>Alternative Layout</vt:lpstr>
      <vt:lpstr>Standard Two Content Layout</vt:lpstr>
      <vt:lpstr>Alternative Two Column Layout</vt:lpstr>
      <vt:lpstr>Section Title (Material for &gt; 1 Hour)</vt:lpstr>
      <vt:lpstr>Subsection Title</vt:lpstr>
      <vt:lpstr>Title Only Slides – Typically Used for a Large Graphic or Blank Page</vt:lpstr>
      <vt:lpstr>Or You Can Make the Graphic Bigger and Overlay a Line</vt:lpstr>
      <vt:lpstr>Finalizing Your Slides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Bullet Layout</dc:title>
  <dc:creator>Hefner, Rick</dc:creator>
  <cp:lastModifiedBy>Hefner, Rick</cp:lastModifiedBy>
  <cp:revision>6</cp:revision>
  <dcterms:created xsi:type="dcterms:W3CDTF">2024-02-26T19:47:44Z</dcterms:created>
  <dcterms:modified xsi:type="dcterms:W3CDTF">2024-07-16T20:31:49Z</dcterms:modified>
</cp:coreProperties>
</file>